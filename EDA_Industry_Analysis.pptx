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D1B2A"/>
                </a:solidFill>
                <a:latin typeface="Arial"/>
              </a:rPr>
              <a:t>Skewness by Variable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F7-448A-8AF6-3C72F28173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BF7-448A-8AF6-3C72F28173C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BF7-448A-8AF6-3C72F28173C8}"/>
              </c:ext>
            </c:extLst>
          </c:dPt>
          <c:dPt>
            <c:idx val="3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F7-448A-8AF6-3C72F28173C8}"/>
              </c:ext>
            </c:extLst>
          </c:dPt>
          <c:dPt>
            <c:idx val="4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F7-448A-8AF6-3C72F28173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annual_revenue</c:v>
                </c:pt>
                <c:pt idx="1">
                  <c:v>employee_count</c:v>
                </c:pt>
                <c:pt idx="2">
                  <c:v>customer_count</c:v>
                </c:pt>
                <c:pt idx="3">
                  <c:v>profit_margin</c:v>
                </c:pt>
                <c:pt idx="4">
                  <c:v>market_rating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2.2999999999999998</c:v>
                </c:pt>
                <c:pt idx="1">
                  <c:v>1.8</c:v>
                </c:pt>
                <c:pt idx="2">
                  <c:v>1.4</c:v>
                </c:pt>
                <c:pt idx="3">
                  <c:v>0.3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F7-448A-8AF6-3C72F28173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D1B2A"/>
                </a:solidFill>
                <a:latin typeface="Arial"/>
              </a:rPr>
              <a:t>Industry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1E5-4BDA-BD62-D5032709D170}"/>
              </c:ext>
            </c:extLst>
          </c:dPt>
          <c:dPt>
            <c:idx val="1"/>
            <c:bubble3D val="0"/>
            <c:spPr>
              <a:solidFill>
                <a:srgbClr val="EE6C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E5-4BDA-BD62-D5032709D170}"/>
              </c:ext>
            </c:extLst>
          </c:dPt>
          <c:dPt>
            <c:idx val="2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E5-4BDA-BD62-D5032709D170}"/>
              </c:ext>
            </c:extLst>
          </c:dPt>
          <c:dPt>
            <c:idx val="3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1E5-4BDA-BD62-D5032709D170}"/>
              </c:ext>
            </c:extLst>
          </c:dPt>
          <c:dPt>
            <c:idx val="4"/>
            <c:bubble3D val="0"/>
            <c:spPr>
              <a:solidFill>
                <a:srgbClr val="334E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1E5-4BDA-BD62-D5032709D170}"/>
              </c:ext>
            </c:extLst>
          </c:dPt>
          <c:dPt>
            <c:idx val="5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1E5-4BDA-BD62-D5032709D17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E5-4BDA-BD62-D5032709D17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E5-4BDA-BD62-D5032709D17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1E5-4BDA-BD62-D5032709D17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1E5-4BDA-BD62-D5032709D17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1E5-4BDA-BD62-D5032709D17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1E5-4BDA-BD62-D5032709D17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Technology</c:v>
                </c:pt>
                <c:pt idx="1">
                  <c:v>Retail</c:v>
                </c:pt>
                <c:pt idx="2">
                  <c:v>Healthcare</c:v>
                </c:pt>
                <c:pt idx="3">
                  <c:v>Finance</c:v>
                </c:pt>
                <c:pt idx="4">
                  <c:v>Manufacturing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1E5-4BDA-BD62-D5032709D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D1B2A"/>
                </a:solidFill>
                <a:latin typeface="Arial"/>
              </a:rPr>
              <a:t>Correlation with Annual Revenue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Correlation with Revenue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A8-4AEC-894D-A2137A41D50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5A8-4AEC-894D-A2137A41D500}"/>
              </c:ext>
            </c:extLst>
          </c:dPt>
          <c:dPt>
            <c:idx val="2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A8-4AEC-894D-A2137A41D500}"/>
              </c:ext>
            </c:extLst>
          </c:dPt>
          <c:dPt>
            <c:idx val="3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A8-4AEC-894D-A2137A41D500}"/>
              </c:ext>
            </c:extLst>
          </c:dPt>
          <c:dPt>
            <c:idx val="4"/>
            <c:invertIfNegative val="0"/>
            <c:bubble3D val="0"/>
            <c:spPr>
              <a:solidFill>
                <a:srgbClr val="EE6C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A8-4AEC-894D-A2137A41D5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employee_count</c:v>
                </c:pt>
                <c:pt idx="1">
                  <c:v>customer_count</c:v>
                </c:pt>
                <c:pt idx="2">
                  <c:v>market_rating</c:v>
                </c:pt>
                <c:pt idx="3">
                  <c:v>profit_margin</c:v>
                </c:pt>
                <c:pt idx="4">
                  <c:v>founded_year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</c:v>
                </c:pt>
                <c:pt idx="1">
                  <c:v>0.78</c:v>
                </c:pt>
                <c:pt idx="2">
                  <c:v>0.45</c:v>
                </c:pt>
                <c:pt idx="3">
                  <c:v>0.38</c:v>
                </c:pt>
                <c:pt idx="4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5A8-4AEC-894D-A2137A41D5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D1B2A"/>
                </a:solidFill>
                <a:latin typeface="Arial"/>
              </a:rPr>
              <a:t>Avg Revenue by Industry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Annual Revenue ($M)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84-4BE2-8D54-0EE082356A85}"/>
              </c:ext>
            </c:extLst>
          </c:dPt>
          <c:dPt>
            <c:idx val="1"/>
            <c:invertIfNegative val="0"/>
            <c:bubble3D val="0"/>
            <c:spPr>
              <a:solidFill>
                <a:srgbClr val="EE6C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84-4BE2-8D54-0EE082356A85}"/>
              </c:ext>
            </c:extLst>
          </c:dPt>
          <c:dPt>
            <c:idx val="2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84-4BE2-8D54-0EE082356A85}"/>
              </c:ext>
            </c:extLst>
          </c:dPt>
          <c:dPt>
            <c:idx val="3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84-4BE2-8D54-0EE082356A85}"/>
              </c:ext>
            </c:extLst>
          </c:dPt>
          <c:dPt>
            <c:idx val="4"/>
            <c:invertIfNegative val="0"/>
            <c:bubble3D val="0"/>
            <c:spPr>
              <a:solidFill>
                <a:srgbClr val="334E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C84-4BE2-8D54-0EE082356A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Finance</c:v>
                </c:pt>
                <c:pt idx="2">
                  <c:v>Healthcare</c:v>
                </c:pt>
                <c:pt idx="3">
                  <c:v>Retail</c:v>
                </c:pt>
                <c:pt idx="4">
                  <c:v>Manufacturing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</c:v>
                </c:pt>
                <c:pt idx="1">
                  <c:v>650</c:v>
                </c:pt>
                <c:pt idx="2">
                  <c:v>510</c:v>
                </c:pt>
                <c:pt idx="3">
                  <c:v>480</c:v>
                </c:pt>
                <c:pt idx="4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C84-4BE2-8D54-0EE082356A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D1B2A"/>
                </a:solidFill>
                <a:latin typeface="Arial"/>
              </a:rPr>
              <a:t>Skewness Values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EE6C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D2-4CBC-AD84-72AAFD02B99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FD2-4CBC-AD84-72AAFD02B99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FD2-4CBC-AD84-72AAFD02B99E}"/>
              </c:ext>
            </c:extLst>
          </c:dPt>
          <c:dPt>
            <c:idx val="3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D2-4CBC-AD84-72AAFD02B99E}"/>
              </c:ext>
            </c:extLst>
          </c:dPt>
          <c:dPt>
            <c:idx val="4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FD2-4CBC-AD84-72AAFD02B99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Revenue</c:v>
                </c:pt>
                <c:pt idx="1">
                  <c:v>Customers</c:v>
                </c:pt>
                <c:pt idx="2">
                  <c:v>Employees</c:v>
                </c:pt>
                <c:pt idx="3">
                  <c:v>Profit%</c:v>
                </c:pt>
                <c:pt idx="4">
                  <c:v>Mkt Rating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2.2999999999999998</c:v>
                </c:pt>
                <c:pt idx="1">
                  <c:v>1.4</c:v>
                </c:pt>
                <c:pt idx="2">
                  <c:v>1.8</c:v>
                </c:pt>
                <c:pt idx="3">
                  <c:v>0.3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FD2-4CBC-AD84-72AAFD02B9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D1B2A"/>
                </a:solidFill>
                <a:latin typeface="Arial"/>
              </a:rPr>
              <a:t>Excess Kurtosis Values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Kurtosis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FD-4444-98D0-C6F2606F2EE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9FD-4444-98D0-C6F2606F2EE3}"/>
              </c:ext>
            </c:extLst>
          </c:dPt>
          <c:dPt>
            <c:idx val="2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FD-4444-98D0-C6F2606F2EE3}"/>
              </c:ext>
            </c:extLst>
          </c:dPt>
          <c:dPt>
            <c:idx val="3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9FD-4444-98D0-C6F2606F2EE3}"/>
              </c:ext>
            </c:extLst>
          </c:dPt>
          <c:dPt>
            <c:idx val="4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9FD-4444-98D0-C6F2606F2E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Revenue</c:v>
                </c:pt>
                <c:pt idx="1">
                  <c:v>Employees</c:v>
                </c:pt>
                <c:pt idx="2">
                  <c:v>Customers</c:v>
                </c:pt>
                <c:pt idx="3">
                  <c:v>Profit%</c:v>
                </c:pt>
                <c:pt idx="4">
                  <c:v>Mkt Rating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9.1999999999999993</c:v>
                </c:pt>
                <c:pt idx="1">
                  <c:v>7.1</c:v>
                </c:pt>
                <c:pt idx="2">
                  <c:v>5.4</c:v>
                </c:pt>
                <c:pt idx="3">
                  <c:v>2.8</c:v>
                </c:pt>
                <c:pt idx="4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9FD-4444-98D0-C6F2606F2E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36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0A7B7E">
              <a:alpha val="60000"/>
            </a:srgbClr>
          </a:solidFill>
          <a:ln w="12700">
            <a:solidFill>
              <a:srgbClr val="0A7B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365760"/>
            <a:ext cx="1280160" cy="1280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0" y="1554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Large-Scale Industry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Dataset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0" y="2651760"/>
            <a:ext cx="5029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• Bivariate • Multivariate Analysis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1463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Large-Scale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records × 12 variables across major global industries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25880"/>
            <a:ext cx="73152" cy="1463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Primary Objective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comprehensive EDA to uncover patterns, trends &amp; business insights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73152" cy="1463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Analysis Depth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Multivariate statistical techniques applied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017520"/>
            <a:ext cx="73152" cy="1463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Value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BI, benchmarking, forecasting &amp; strategic decision-making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8288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280160"/>
            <a:ext cx="18288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42032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280160"/>
            <a:ext cx="18288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11696" y="1280160"/>
            <a:ext cx="18288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11696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11696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Scope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60320"/>
            <a:ext cx="265176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786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97180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employee_count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annual_revenue_million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profit_margin_percent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customer_count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market_rating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founded_year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2560320"/>
            <a:ext cx="2651760" cy="347472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5786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297180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2560320"/>
            <a:ext cx="2651760" cy="3474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5786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Feature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297180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1920240" cy="3474720"/>
          </a:xfrm>
          <a:prstGeom prst="rect">
            <a:avLst/>
          </a:prstGeom>
          <a:solidFill>
            <a:srgbClr val="334E58">
              <a:alpha val="40000"/>
            </a:srgbClr>
          </a:solidFill>
          <a:ln w="254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1920240" cy="548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&amp; multidimensional array handling. Powers fast computation behind Pandas &amp; visualizations.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280160"/>
            <a:ext cx="1920240" cy="3474720"/>
          </a:xfrm>
          <a:prstGeom prst="rect">
            <a:avLst/>
          </a:prstGeom>
          <a:solidFill>
            <a:srgbClr val="334E58">
              <a:alpha val="40000"/>
            </a:srgbClr>
          </a:solidFill>
          <a:ln w="25400">
            <a:solidFill>
              <a:srgbClr val="EE6C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280160"/>
            <a:ext cx="1920240" cy="54864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78608" y="22860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manipulation &amp; statistical analysis. Used for loading, cleaning, grouping &amp; summarizing the dataset.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280160"/>
            <a:ext cx="1920240" cy="3474720"/>
          </a:xfrm>
          <a:prstGeom prst="rect">
            <a:avLst/>
          </a:prstGeom>
          <a:solidFill>
            <a:srgbClr val="334E58">
              <a:alpha val="40000"/>
            </a:srgbClr>
          </a:solidFill>
          <a:ln w="25400">
            <a:solidFill>
              <a:srgbClr val="E9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280160"/>
            <a:ext cx="1920240" cy="548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08576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0016" y="22860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plotting library. Used for histograms, boxplots, scatter plots &amp; frequency charts.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9984" y="1280160"/>
            <a:ext cx="1920240" cy="3474720"/>
          </a:xfrm>
          <a:prstGeom prst="rect">
            <a:avLst/>
          </a:prstGeom>
          <a:solidFill>
            <a:srgbClr val="334E58">
              <a:alpha val="40000"/>
            </a:srgbClr>
          </a:solidFill>
          <a:ln w="254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280160"/>
            <a:ext cx="1920240" cy="54864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9984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21424" y="22860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statistical visualizations. Used for correlation heatmaps, pair plots &amp; distribution charts.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dataset into Python environment using Pandas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490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shape, dtypes, null values, duplicates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6304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490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per variable: mean, median, std, skewness, kurtosis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group means, scatter plots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1089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24612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variable interactions &amp; heatmaps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31089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24612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IQR, Z-score, boxplots — retain business outliers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UNIVARIATE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— Numerical Variables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801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80160"/>
          <a:ext cx="3291840" cy="30175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(approx)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(+2.3)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(+1.8)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(+1.4)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3.6/5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E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UNIVARIATE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— Categorical Variables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3444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3258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1325880"/>
            <a:ext cx="64008" cy="77724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0" y="1380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Retail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0" y="1673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industries — 50% of total companies combined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0" y="2258568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2258568"/>
            <a:ext cx="64008" cy="77724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2313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0" y="2606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company concentration; slightly better market ratings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0" y="3191256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3191256"/>
            <a:ext cx="64008" cy="77724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12080" y="3538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largest region — high retail &amp; manufacturing presence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0" y="4123944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29200" y="4123944"/>
            <a:ext cx="64008" cy="77724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0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12080" y="4471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market ratings vs Technology sector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OUTLIERS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Boxplots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identification of values beyond whiskers (Q1-1.5×IQR / Q3+1.5×IQR)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IQR Method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70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Inter-Quartile Range based rule for flagging extreme values statistically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456432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Z-Score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67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distance from mean; Z &gt; 3 flags extreme outliers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261872"/>
            <a:ext cx="429768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Outlier Observations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874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Extreme values found in annual_revenue_million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5603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employee_count outliers = multinational firms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3246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customer_count outliers concentrated in Retail sector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39319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outliers RETAINED — represent genuine large-scale organizations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4297680"/>
            <a:ext cx="3977640" cy="320040"/>
          </a:xfrm>
          <a:prstGeom prst="rect">
            <a:avLst/>
          </a:prstGeom>
          <a:solidFill>
            <a:srgbClr val="EE6C4D">
              <a:alpha val="70000"/>
            </a:srgbClr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Retain all outliers for accurate representation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BIVARIATE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 — Numerical vs Numerical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61872"/>
          <a:ext cx="50292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261872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261872"/>
            <a:ext cx="64008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+ve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0" y="1581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↔ Revenue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1554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0.82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77840" y="2157984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157984"/>
            <a:ext cx="64008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+ve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15000" y="2478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↔ Revenue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138160" y="24505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0.78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3054096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054096"/>
            <a:ext cx="64008" cy="7772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118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15000" y="3374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Rating ↔ Profit%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138160" y="33467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0.45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77840" y="3950208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3950208"/>
            <a:ext cx="64008" cy="77724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0" y="4014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0" y="4270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Year ↔ Revenue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38160" y="4242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BIVARIATE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 — Numerical vs Categorical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61872"/>
          <a:ext cx="50292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261872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Technology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revenue — rapid digital growth &amp; global reach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2157984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Healthcare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25237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profit margins across companies — consistent demand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3054096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3118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North America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34198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market ratings compared to other global regions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950208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4014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Manufacturing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43159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employee counts; lower market ratings vs Tech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CORRELATION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29844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002536" y="129844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43784" y="129844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85032" y="129844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26280" y="129844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Rtg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67528" y="129844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Fnd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77393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70432" y="1783080"/>
            <a:ext cx="8229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177393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1783080"/>
            <a:ext cx="822960" cy="457200"/>
          </a:xfrm>
          <a:prstGeom prst="rect">
            <a:avLst/>
          </a:prstGeom>
          <a:solidFill>
            <a:srgbClr val="0A6E72"/>
          </a:solidFill>
          <a:ln w="12700">
            <a:solidFill>
              <a:srgbClr val="0A6E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02536" y="177393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52928" y="1783080"/>
            <a:ext cx="822960" cy="457200"/>
          </a:xfrm>
          <a:prstGeom prst="rect">
            <a:avLst/>
          </a:prstGeom>
          <a:solidFill>
            <a:srgbClr val="0A6E72"/>
          </a:solidFill>
          <a:ln w="12700">
            <a:solidFill>
              <a:srgbClr val="0A6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177393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94176" y="1783080"/>
            <a:ext cx="822960" cy="457200"/>
          </a:xfrm>
          <a:prstGeom prst="rect">
            <a:avLst/>
          </a:prstGeom>
          <a:solidFill>
            <a:srgbClr val="52B8BE"/>
          </a:solidFill>
          <a:ln w="12700">
            <a:solidFill>
              <a:srgbClr val="52B8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5032" y="177393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35424" y="1783080"/>
            <a:ext cx="822960" cy="457200"/>
          </a:xfrm>
          <a:prstGeom prst="rect">
            <a:avLst/>
          </a:prstGeom>
          <a:solidFill>
            <a:srgbClr val="A8D8DA"/>
          </a:solidFill>
          <a:ln w="12700">
            <a:solidFill>
              <a:srgbClr val="A8D8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77393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76672" y="1783080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67528" y="177393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24942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70432" y="2258568"/>
            <a:ext cx="822960" cy="457200"/>
          </a:xfrm>
          <a:prstGeom prst="rect">
            <a:avLst/>
          </a:prstGeom>
          <a:solidFill>
            <a:srgbClr val="0A6E72"/>
          </a:solidFill>
          <a:ln w="12700">
            <a:solidFill>
              <a:srgbClr val="0A6E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224942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11680" y="2258568"/>
            <a:ext cx="8229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02536" y="224942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52928" y="2258568"/>
            <a:ext cx="822960" cy="457200"/>
          </a:xfrm>
          <a:prstGeom prst="rect">
            <a:avLst/>
          </a:prstGeom>
          <a:solidFill>
            <a:srgbClr val="52B8BE"/>
          </a:solidFill>
          <a:ln w="12700">
            <a:solidFill>
              <a:srgbClr val="52B8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43784" y="224942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94176" y="2258568"/>
            <a:ext cx="822960" cy="457200"/>
          </a:xfrm>
          <a:prstGeom prst="rect">
            <a:avLst/>
          </a:prstGeom>
          <a:solidFill>
            <a:srgbClr val="A8D8DA"/>
          </a:solidFill>
          <a:ln w="12700">
            <a:solidFill>
              <a:srgbClr val="A8D8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5032" y="224942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35424" y="2258568"/>
            <a:ext cx="822960" cy="457200"/>
          </a:xfrm>
          <a:prstGeom prst="rect">
            <a:avLst/>
          </a:prstGeom>
          <a:solidFill>
            <a:srgbClr val="A8D8DA"/>
          </a:solidFill>
          <a:ln w="12700">
            <a:solidFill>
              <a:srgbClr val="A8D8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224942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76672" y="2258568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67528" y="224942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0040" y="2724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170432" y="2734056"/>
            <a:ext cx="822960" cy="457200"/>
          </a:xfrm>
          <a:prstGeom prst="rect">
            <a:avLst/>
          </a:prstGeom>
          <a:solidFill>
            <a:srgbClr val="0A6E72"/>
          </a:solidFill>
          <a:ln w="12700">
            <a:solidFill>
              <a:srgbClr val="0A6E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724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11680" y="2734056"/>
            <a:ext cx="822960" cy="457200"/>
          </a:xfrm>
          <a:prstGeom prst="rect">
            <a:avLst/>
          </a:prstGeom>
          <a:solidFill>
            <a:srgbClr val="52B8BE"/>
          </a:solidFill>
          <a:ln w="12700">
            <a:solidFill>
              <a:srgbClr val="52B8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02536" y="2724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852928" y="2734056"/>
            <a:ext cx="8229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43784" y="2724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94176" y="2734056"/>
            <a:ext cx="822960" cy="457200"/>
          </a:xfrm>
          <a:prstGeom prst="rect">
            <a:avLst/>
          </a:prstGeom>
          <a:solidFill>
            <a:srgbClr val="A8D8DA"/>
          </a:solidFill>
          <a:ln w="12700">
            <a:solidFill>
              <a:srgbClr val="A8D8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5032" y="2724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35424" y="2734056"/>
            <a:ext cx="822960" cy="457200"/>
          </a:xfrm>
          <a:prstGeom prst="rect">
            <a:avLst/>
          </a:prstGeom>
          <a:solidFill>
            <a:srgbClr val="52B8BE"/>
          </a:solidFill>
          <a:ln w="12700">
            <a:solidFill>
              <a:srgbClr val="52B8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2724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76672" y="2734056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67528" y="2724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0040" y="320040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Profit%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170432" y="3209544"/>
            <a:ext cx="822960" cy="457200"/>
          </a:xfrm>
          <a:prstGeom prst="rect">
            <a:avLst/>
          </a:prstGeom>
          <a:solidFill>
            <a:srgbClr val="52B8BE"/>
          </a:solidFill>
          <a:ln w="12700">
            <a:solidFill>
              <a:srgbClr val="52B8B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1288" y="320040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011680" y="3209544"/>
            <a:ext cx="822960" cy="457200"/>
          </a:xfrm>
          <a:prstGeom prst="rect">
            <a:avLst/>
          </a:prstGeom>
          <a:solidFill>
            <a:srgbClr val="A8D8DA"/>
          </a:solidFill>
          <a:ln w="12700">
            <a:solidFill>
              <a:srgbClr val="A8D8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02536" y="320040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852928" y="3209544"/>
            <a:ext cx="822960" cy="457200"/>
          </a:xfrm>
          <a:prstGeom prst="rect">
            <a:avLst/>
          </a:prstGeom>
          <a:solidFill>
            <a:srgbClr val="A8D8DA"/>
          </a:solidFill>
          <a:ln w="12700">
            <a:solidFill>
              <a:srgbClr val="A8D8D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43784" y="320040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94176" y="3209544"/>
            <a:ext cx="8229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85032" y="320040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35424" y="3209544"/>
            <a:ext cx="822960" cy="457200"/>
          </a:xfrm>
          <a:prstGeom prst="rect">
            <a:avLst/>
          </a:prstGeom>
          <a:solidFill>
            <a:srgbClr val="52B8BE"/>
          </a:solidFill>
          <a:ln w="12700">
            <a:solidFill>
              <a:srgbClr val="52B8B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26280" y="320040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376672" y="3209544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67528" y="320040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0040" y="367588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Rtg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170432" y="3685032"/>
            <a:ext cx="822960" cy="457200"/>
          </a:xfrm>
          <a:prstGeom prst="rect">
            <a:avLst/>
          </a:prstGeom>
          <a:solidFill>
            <a:srgbClr val="A8D8DA"/>
          </a:solidFill>
          <a:ln w="12700">
            <a:solidFill>
              <a:srgbClr val="A8D8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61288" y="367588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011680" y="3685032"/>
            <a:ext cx="822960" cy="457200"/>
          </a:xfrm>
          <a:prstGeom prst="rect">
            <a:avLst/>
          </a:prstGeom>
          <a:solidFill>
            <a:srgbClr val="A8D8DA"/>
          </a:solidFill>
          <a:ln w="12700">
            <a:solidFill>
              <a:srgbClr val="A8D8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02536" y="367588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852928" y="3685032"/>
            <a:ext cx="822960" cy="457200"/>
          </a:xfrm>
          <a:prstGeom prst="rect">
            <a:avLst/>
          </a:prstGeom>
          <a:solidFill>
            <a:srgbClr val="52B8BE"/>
          </a:solidFill>
          <a:ln w="12700">
            <a:solidFill>
              <a:srgbClr val="52B8B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43784" y="367588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694176" y="3685032"/>
            <a:ext cx="822960" cy="457200"/>
          </a:xfrm>
          <a:prstGeom prst="rect">
            <a:avLst/>
          </a:prstGeom>
          <a:solidFill>
            <a:srgbClr val="52B8BE"/>
          </a:solidFill>
          <a:ln w="12700">
            <a:solidFill>
              <a:srgbClr val="52B8B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85032" y="367588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35424" y="3685032"/>
            <a:ext cx="8229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26280" y="367588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376672" y="3685032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67528" y="367588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20040" y="41513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Fnd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170432" y="4160520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61288" y="41513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011680" y="4160520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02536" y="41513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852928" y="4160520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843784" y="41513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694176" y="4160520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85032" y="41513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535424" y="4160520"/>
            <a:ext cx="822960" cy="457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26280" y="41513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376672" y="4160520"/>
            <a:ext cx="8229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67528" y="41513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2004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intensity = correlation strength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903720" y="1298448"/>
            <a:ext cx="201168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9951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6995160" y="18745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Revenue ↔ Employees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(r=0.82) Strong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995160" y="2560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Revenue ↔ Customers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(r=0.78) Strong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995160" y="32461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Profit ↔ Market Rtg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(r=0.45) Moderate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995160" y="39319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No severe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MULTIVARIATE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393192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× Revenue × Employees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💻📊👥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companies with larger employee bases generated the highest revenue — a compounding effect.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80160"/>
            <a:ext cx="3931920" cy="41148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× Market Rating × Profit Margin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🌎⭐💹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companies showed better ratings and slightly higher profitability across sectors.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393192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Customer Count × Revenue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🇮🇳🇺🇸🛒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companies in India and USA handled significantly larger customer bases, driving revenue scale.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1089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108960"/>
            <a:ext cx="3931920" cy="41148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× Founded Year × Revenue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📅🚀📈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060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established Tech firms showed rapid revenue growth vs older Manufacturing companies.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DISTRIBUTION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&amp; Kurtosis Interpretation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61872"/>
          <a:ext cx="4297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846320" y="1261872"/>
          <a:ext cx="4023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5661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3566160"/>
            <a:ext cx="26517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Positive Skew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069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are moderate; a few dominate with extreme values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91840" y="35661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91840" y="3566160"/>
            <a:ext cx="26517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8328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High Kurtosis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4069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tails — large multinational outliers are genuine, not errors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35661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3566160"/>
            <a:ext cx="26517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36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Market Impact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09360" y="4069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employee count concentrated among top-tier enterprises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097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3931920" cy="1051560"/>
          </a:xfrm>
          <a:prstGeom prst="rect">
            <a:avLst/>
          </a:prstGeom>
          <a:solidFill>
            <a:srgbClr val="334E58">
              <a:alpha val="4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389888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 is positively skewed — large enterprises dominate total industry 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1051560"/>
          </a:xfrm>
          <a:prstGeom prst="rect">
            <a:avLst/>
          </a:prstGeom>
          <a:solidFill>
            <a:srgbClr val="334E58">
              <a:alpha val="4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389888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67528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sector leads in average annual revenue generation across all industries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3931920" cy="1051560"/>
          </a:xfrm>
          <a:prstGeom prst="rect">
            <a:avLst/>
          </a:prstGeom>
          <a:solidFill>
            <a:srgbClr val="334E58">
              <a:alpha val="4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624328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6243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sector handles the highest customer volumes of any industry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3931920" cy="1051560"/>
          </a:xfrm>
          <a:prstGeom prst="rect">
            <a:avLst/>
          </a:prstGeom>
          <a:solidFill>
            <a:srgbClr val="334E58">
              <a:alpha val="4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2624328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67528" y="26243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 is the strongest predictor of annual revenue (r = 0.82)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3931920" cy="1051560"/>
          </a:xfrm>
          <a:prstGeom prst="rect">
            <a:avLst/>
          </a:prstGeom>
          <a:solidFill>
            <a:srgbClr val="334E58">
              <a:alpha val="4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858768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38587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represent genuine large-scale organizations — retained for accurate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749040"/>
            <a:ext cx="3931920" cy="1051560"/>
          </a:xfrm>
          <a:prstGeom prst="rect">
            <a:avLst/>
          </a:prstGeom>
          <a:solidFill>
            <a:srgbClr val="334E58">
              <a:alpha val="4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3858768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67528" y="38587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companies consistently show higher market ratings and profitability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2286000"/>
          </a:xfrm>
          <a:prstGeom prst="ellipse">
            <a:avLst/>
          </a:prstGeom>
          <a:solidFill>
            <a:srgbClr val="0A7B7E">
              <a:alpha val="60000"/>
            </a:srgbClr>
          </a:solidFill>
          <a:ln w="12700">
            <a:solidFill>
              <a:srgbClr val="0A7B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274320"/>
            <a:ext cx="1371600" cy="137160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371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FFFFF"/>
                </a:solidFill>
              </a:rPr>
              <a:t>✓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9144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applied comprehensive EDA techniques on a 15,000-record industry dataset, delivering actionable insights across all major analytical dimensions.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Univariate statistical analysis (mean, median, std, skew, kurtosis)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Bivariate relationship analysis (Pearson correlation, group comparisons)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Multivariate interaction analysis (3+ variable combinations)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Outlier detection via IQR, Z-score &amp; boxplots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Business insights for BI, forecasting &amp; strategic decisions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5486400" cy="640080"/>
          </a:xfrm>
          <a:prstGeom prst="rect">
            <a:avLst/>
          </a:prstGeom>
          <a:solidFill>
            <a:srgbClr val="E9C46A">
              <a:alpha val="8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Ashish Kumar  |  Date: June 5,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1006</Words>
  <Application>Microsoft Office PowerPoint</Application>
  <PresentationFormat>On-screen Show (16:9)</PresentationFormat>
  <Paragraphs>278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- Industry Performance Dataset</dc:title>
  <dc:subject>PptxGenJS Presentation</dc:subject>
  <dc:creator>NextHikes IT Solutions</dc:creator>
  <cp:lastModifiedBy>ASHISH KUMAR</cp:lastModifiedBy>
  <cp:revision>2</cp:revision>
  <dcterms:created xsi:type="dcterms:W3CDTF">2026-06-05T02:15:50Z</dcterms:created>
  <dcterms:modified xsi:type="dcterms:W3CDTF">2026-06-05T18:10:46Z</dcterms:modified>
</cp:coreProperties>
</file>